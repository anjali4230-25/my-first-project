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1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7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8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72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2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8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3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89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5216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15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431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36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3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2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3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611B-DD2E-5C0F-6ED0-D0D036E4D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POWERED PREDICTION OF HELTHY EATING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50DEF-220B-7E14-0B37-EE70435F42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34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53525E-335C-B9DC-F933-100B7B6E1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003328"/>
              </p:ext>
            </p:extLst>
          </p:nvPr>
        </p:nvGraphicFramePr>
        <p:xfrm>
          <a:off x="904462" y="1093304"/>
          <a:ext cx="10306877" cy="5486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727">
                  <a:extLst>
                    <a:ext uri="{9D8B030D-6E8A-4147-A177-3AD203B41FA5}">
                      <a16:colId xmlns:a16="http://schemas.microsoft.com/office/drawing/2014/main" val="370308116"/>
                    </a:ext>
                  </a:extLst>
                </a:gridCol>
                <a:gridCol w="1849373">
                  <a:extLst>
                    <a:ext uri="{9D8B030D-6E8A-4147-A177-3AD203B41FA5}">
                      <a16:colId xmlns:a16="http://schemas.microsoft.com/office/drawing/2014/main" val="2394132045"/>
                    </a:ext>
                  </a:extLst>
                </a:gridCol>
                <a:gridCol w="2176397">
                  <a:extLst>
                    <a:ext uri="{9D8B030D-6E8A-4147-A177-3AD203B41FA5}">
                      <a16:colId xmlns:a16="http://schemas.microsoft.com/office/drawing/2014/main" val="2485493253"/>
                    </a:ext>
                  </a:extLst>
                </a:gridCol>
                <a:gridCol w="1920999">
                  <a:extLst>
                    <a:ext uri="{9D8B030D-6E8A-4147-A177-3AD203B41FA5}">
                      <a16:colId xmlns:a16="http://schemas.microsoft.com/office/drawing/2014/main" val="1541950443"/>
                    </a:ext>
                  </a:extLst>
                </a:gridCol>
                <a:gridCol w="3841381">
                  <a:extLst>
                    <a:ext uri="{9D8B030D-6E8A-4147-A177-3AD203B41FA5}">
                      <a16:colId xmlns:a16="http://schemas.microsoft.com/office/drawing/2014/main" val="3604883703"/>
                    </a:ext>
                  </a:extLst>
                </a:gridCol>
              </a:tblGrid>
              <a:tr h="8043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SN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AUTHOR’S 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 / ML Technique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Performance Metrics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Drawbacks / Limitations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848567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Smith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Random Forest,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Accuracy = 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Limited to self-reported dietary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696525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Johnson &amp; Lee,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ANN (Artificial Neural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RMSE = 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Needs large nutrition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921401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Patel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Gradient Boosting,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Computationally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1205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Gupta &amp; Sharma,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Decision Tree,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F1 Score = 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Poor performance on irregular diet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735324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Kim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Hybrid ML Model (RF + ANN)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Complex model, longer training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90445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 &amp; Wang,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Sensitive to missing nutrition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367418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Ahmed et al.,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Deep Neural Network (DNN)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RMSE =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Requires heavy computation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398146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Chen &amp; Zhao,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+ Feature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Hyperparameter tuning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21178"/>
                  </a:ext>
                </a:extLst>
              </a:tr>
              <a:tr h="4663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Reddy &amp; Iyer,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CNN + Food Image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Needs large labeled food image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668610"/>
                  </a:ext>
                </a:extLst>
              </a:tr>
              <a:tr h="48453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Tiwari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Hybrid ML + IoT Wearable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Accuracy =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Sensor calibration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58468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1ABDE3-E6D3-1EF8-B253-8FCFE1A019B3}"/>
              </a:ext>
            </a:extLst>
          </p:cNvPr>
          <p:cNvSpPr txBox="1"/>
          <p:nvPr/>
        </p:nvSpPr>
        <p:spPr>
          <a:xfrm>
            <a:off x="1179871" y="403456"/>
            <a:ext cx="7551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RELATED WORK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425287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C29EF-7447-2A69-A7E4-9CA6F65F83AC}"/>
              </a:ext>
            </a:extLst>
          </p:cNvPr>
          <p:cNvSpPr txBox="1"/>
          <p:nvPr/>
        </p:nvSpPr>
        <p:spPr>
          <a:xfrm>
            <a:off x="412955" y="1868129"/>
            <a:ext cx="984209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Harvard T.H. Chan School of Public Health.</a:t>
            </a:r>
            <a:r>
              <a:rPr lang="en-US" sz="2000" dirty="0"/>
              <a:t> (2023). </a:t>
            </a:r>
            <a:r>
              <a:rPr lang="en-US" sz="2000" i="1" dirty="0"/>
              <a:t>The Nutrition Source: Healthy Eating Plate &amp; Pyramid.</a:t>
            </a:r>
            <a:r>
              <a:rPr lang="en-US" sz="2000" dirty="0"/>
              <a:t> Retrieved from https://www.hsph.harvard.edu/nutritionsource/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World Health Organization (WHO).</a:t>
            </a:r>
            <a:r>
              <a:rPr lang="en-US" sz="2000" dirty="0"/>
              <a:t> (2020). </a:t>
            </a:r>
            <a:r>
              <a:rPr lang="en-US" sz="2000" i="1" dirty="0"/>
              <a:t>Healthy diet.</a:t>
            </a:r>
            <a:r>
              <a:rPr lang="en-US" sz="2000" dirty="0"/>
              <a:t> Retrieved from https://www.who.int/news-room/fact-sheets/detail/healthy-diet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United States Department of Agriculture (USDA).</a:t>
            </a:r>
            <a:r>
              <a:rPr lang="en-US" sz="2000" dirty="0"/>
              <a:t> (2020). </a:t>
            </a:r>
            <a:r>
              <a:rPr lang="en-US" sz="2000" i="1" dirty="0"/>
              <a:t>Dietary Guidelines for Americans 2020–2025.</a:t>
            </a:r>
            <a:r>
              <a:rPr lang="en-US" sz="2000" dirty="0"/>
              <a:t> Washington, DC: U.S. Government Printing Office.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Centers for Disease Control and Prevention (CDC).</a:t>
            </a:r>
            <a:r>
              <a:rPr lang="en-US" sz="2000" dirty="0"/>
              <a:t> (2022). </a:t>
            </a:r>
            <a:r>
              <a:rPr lang="en-US" sz="2000" i="1" dirty="0"/>
              <a:t>Healthy Eating for a Healthy Weight.</a:t>
            </a:r>
            <a:r>
              <a:rPr lang="en-US" sz="2000" dirty="0"/>
              <a:t> Retrieved from https://www.cdc.gov/healthyweight/healthy_eating/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Willett, W. C., &amp; Stampfer, M. J. (2013). </a:t>
            </a:r>
            <a:r>
              <a:rPr lang="en-US" sz="2000" i="1" dirty="0"/>
              <a:t>Current evidence on healthy eating.</a:t>
            </a:r>
            <a:r>
              <a:rPr lang="en-US" sz="2000" dirty="0"/>
              <a:t> </a:t>
            </a:r>
            <a:r>
              <a:rPr lang="en-US" sz="2000" i="1" dirty="0"/>
              <a:t>Annual Review of Public Health</a:t>
            </a:r>
            <a:r>
              <a:rPr lang="en-US" sz="2000" dirty="0"/>
              <a:t>, 34, 77–95. https://doi.org/10.1146/annurev-publhealth-031811-124646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Hu, F. B. (2002). </a:t>
            </a:r>
            <a:r>
              <a:rPr lang="en-US" sz="2000" i="1" dirty="0"/>
              <a:t>Dietary pattern analysis: A new direction in nutritional epidemiology.</a:t>
            </a:r>
            <a:r>
              <a:rPr lang="en-US" sz="2000" dirty="0"/>
              <a:t> </a:t>
            </a:r>
            <a:r>
              <a:rPr lang="en-US" sz="2000" i="1" dirty="0"/>
              <a:t>Current Opinion in Lipidology</a:t>
            </a:r>
            <a:r>
              <a:rPr lang="en-US" sz="2000" dirty="0"/>
              <a:t>, 13(1), 3–9.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00F4E-75C2-F02A-9CA3-1681D50248A1}"/>
              </a:ext>
            </a:extLst>
          </p:cNvPr>
          <p:cNvSpPr txBox="1"/>
          <p:nvPr/>
        </p:nvSpPr>
        <p:spPr>
          <a:xfrm>
            <a:off x="1288026" y="823763"/>
            <a:ext cx="3608439" cy="83099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4800" dirty="0"/>
              <a:t>REFERENCES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76066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11151C-43B3-26F4-2973-261ACEE00B6D}"/>
              </a:ext>
            </a:extLst>
          </p:cNvPr>
          <p:cNvSpPr txBox="1"/>
          <p:nvPr/>
        </p:nvSpPr>
        <p:spPr>
          <a:xfrm>
            <a:off x="678426" y="1582340"/>
            <a:ext cx="82787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7.Rolls, B. J. (2017).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The science of satiety and the role of portion size in healthy eating.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Nutrition Bulletin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, 42(3), 226–233.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8.Nestle, M. (2013).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Food Politics: How the Food Industry Influences Nutrition and Health.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University of California Press.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9.Mozaffarian, D., Rosenberg, I., &amp;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Uauy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, R. (2018).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History of modern nutrition science—Implications for research, dietary guidelines, and food policy.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BMJ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, 361, k2392.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10.National Health Service (NHS, UK). (2021).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Eight tips for healthy eating.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 Retrieved from https://www.nhs.uk/live-well/eat-well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7290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Wallpapers - Wallpaper Cave">
            <a:extLst>
              <a:ext uri="{FF2B5EF4-FFF2-40B4-BE49-F238E27FC236}">
                <a16:creationId xmlns:a16="http://schemas.microsoft.com/office/drawing/2014/main" id="{61F360D1-CDC3-6C1C-3475-87D8616B0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69" y="521110"/>
            <a:ext cx="7423355" cy="556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8920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ACTIVITY 3{Anjali Kumari(4230) new}</Template>
  <TotalTime>7</TotalTime>
  <Words>548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Rockwell</vt:lpstr>
      <vt:lpstr>Trebuchet MS</vt:lpstr>
      <vt:lpstr>Wingdings 3</vt:lpstr>
      <vt:lpstr>Facet</vt:lpstr>
      <vt:lpstr>AI POWERED PREDICTION OF HELTHY EATING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RAKSHA SINGH</dc:creator>
  <cp:lastModifiedBy>RAKSHA SINGH</cp:lastModifiedBy>
  <cp:revision>1</cp:revision>
  <dcterms:created xsi:type="dcterms:W3CDTF">2025-11-25T17:33:55Z</dcterms:created>
  <dcterms:modified xsi:type="dcterms:W3CDTF">2025-11-25T18:07:01Z</dcterms:modified>
</cp:coreProperties>
</file>